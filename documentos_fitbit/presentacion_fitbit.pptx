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468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ED52C-1CD7-420A-BF26-C353CC598B6E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88B85-03D8-4ED0-9D0E-0B5493B520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063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"Hola, soy Africa Maria Bermudez y presento FitBit, una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que genera rutinas personalizadas en minutos. La idea del producto es sencilla: muchas personas quieren entrenar, pero no saben que rutina hacer, que ejercicios elegir o como adaptar el plan a su tiempo y entorno. FitBit convierte un perfil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basico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una rutina clara y entrenable."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865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punto de partida es que entrenar no siempre falla por falta de ganas. Muchas veces falla porque la persona no sabe que hacer hoy. Hay demasiadas rutinas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poca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 al nivel, al tiempo disponible o al lugar donde se entrena. FitBit busca reducir esa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friccion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inicial y dar una respuesta practica."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677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problema real del usuario no es acceder a ejercicios, porque eso ya existe en muchas plataformas. El problema es elegir los ejercicios correctos para una persona concreta. Una persona principiante, alguien con poco tiempo o alguien que entrena en casa necesita una propuesta diferente. Por eso el producto se centra en personalizar y simplificar la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09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funciona como un flujo muy directo. Primero el usuario introduce su perfil: objetivo, nivel, entorno, tiempo disponible, peso y frecuencia.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Despues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FitBit genera una rutina con ejercicios, series, repeticiones, descanso,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calorias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estimadas. Y por ultimo permite registrar actividad y consultar el historial. No es solo recomendar una rutina: es cerrar el ciclo entre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planificacion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seguimiento."</a:t>
            </a:r>
          </a:p>
          <a:p>
            <a:b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09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"Ahora paso a la demo del producto. En la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selecciono un usuario y ajusto su objetivo, nivel, entorno y tiempo disponible. Al generar la rutina, FitBit devuelve una propuesta clara con ejercicios concretos, volumen de trabajo y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calorica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Despues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muestro el catalogo, donde se pueden buscar y filtrar ejercicios por entorno,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categoria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equipamiento. Finalmente registro una actividad manual y vuelvo al historial para ver que el sistema guarda tanto rutinas como actividad. La idea clave de la demo es esta: el usuario pasa de una necesidad concreta a una salida accionable."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34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valor de FitBit esta en tres niveles. Para el usuario, reduce dudas y ahorra tiempo porque no parte de una pagina en blanco. Para el producto, cada rutina y cada actividad dejan datos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utiles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entender uso y adherencia. Y de cara al futuro, ese historial puede alimentar planes progresivos,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dificultad,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wearables y recomendaciones mas inteligentes."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3921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MVP trabaja con una base preparada para validar el flujo. Tiene un catalogo de 1324 ejercicios, 32 usuarios anonimizados, 317 actividades generadas para el estudio y 1415 ejercicios registrados. Estos datos permiten comprobar que el sistema no solo genera rutinas, sino que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produce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analizar el comportamiento del producto.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9430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recomendacion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basa en reglas interpretables. El sistema filtra por entorno,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puntua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ejercicios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objetivo, musculo, equipamiento, nivel y MET, y calcula volumen,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calorias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estimadas. Para esta primera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 priorizado una salida explicable y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validar, antes de pasar a modelos mas complejos."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9330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"FitBit ya valida el recorrido esencial: perfil,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recomendacion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rutina, registro e historial. A partir de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 crecimiento natural seria incorporar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usuario, construir planes semanales, conectar datos de wearables y entrenar modelos con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historico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real."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373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 resumen, FitBit no vende una lista de ejercicios. Vende claridad para entrenar hoy y datos para mejorar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manana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 una primera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funcional que personaliza rutinas, registra actividad y deja preparada la base para recomendaciones cada vez mas inteligentes. Gracias."</a:t>
            </a:r>
          </a:p>
          <a:p>
            <a:br>
              <a:rPr lang="es-E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88B85-03D8-4ED0-9D0E-0B5493B5203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002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olv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5029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57400"/>
            <a:ext cx="1051560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4800" b="1" noProof="0" dirty="0">
                <a:solidFill>
                  <a:srgbClr val="127E59"/>
                </a:solidFill>
                <a:latin typeface="Aptos"/>
              </a:rPr>
              <a:t>FitBit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889504"/>
            <a:ext cx="978408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500" b="1" noProof="0" dirty="0">
                <a:solidFill>
                  <a:srgbClr val="121E1A"/>
                </a:solidFill>
                <a:latin typeface="Aptos"/>
              </a:rPr>
              <a:t>Rutinas personalizadas en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529584"/>
            <a:ext cx="9006840" cy="5486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600" b="0" noProof="0" dirty="0">
                <a:solidFill>
                  <a:srgbClr val="586C64"/>
                </a:solidFill>
                <a:latin typeface="Aptos"/>
              </a:rPr>
              <a:t>Un MVP funcional para convertir perfil, objetivo y tiempo disponible en un plan entrenable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572000"/>
            <a:ext cx="3931920" cy="438912"/>
          </a:xfrm>
          <a:prstGeom prst="roundRect">
            <a:avLst/>
          </a:prstGeom>
          <a:solidFill>
            <a:srgbClr val="FFF4ED"/>
          </a:solidFill>
          <a:ln>
            <a:solidFill>
              <a:srgbClr val="FF7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noProof="0" dirty="0">
                <a:solidFill>
                  <a:srgbClr val="121E1A"/>
                </a:solidFill>
                <a:latin typeface="Aptos"/>
              </a:rPr>
              <a:t>Pitch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0" noProof="0" dirty="0">
                <a:solidFill>
                  <a:srgbClr val="121E1A"/>
                </a:solidFill>
                <a:latin typeface="Aptos"/>
              </a:rPr>
              <a:t>Africa Maria Bermudez Mejias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200" b="0" noProof="0" dirty="0">
                <a:solidFill>
                  <a:srgbClr val="586C64"/>
                </a:solidFill>
                <a:latin typeface="Aptos"/>
              </a:rPr>
              <a:t>Master Data Science &amp; IA -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1938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1938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Entrenar no falla por ganas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Oportunidad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640080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700" b="1" noProof="0" dirty="0">
                <a:solidFill>
                  <a:srgbClr val="127E59"/>
                </a:solidFill>
                <a:latin typeface="Aptos"/>
              </a:rPr>
              <a:t>Falla porque muchas personas no saben que hacer hoy.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5486400" cy="21945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Hay demasiadas rutinas genéricas y poca adaptación real.</a:t>
            </a:r>
          </a:p>
          <a:p>
            <a:pPr>
              <a:spcAft>
                <a:spcPts val="800"/>
              </a:spcAft>
              <a:defRPr sz="20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nivel, el tiempo y el entorno cambian completamente la decisión.</a:t>
            </a:r>
          </a:p>
          <a:p>
            <a:pPr>
              <a:spcAft>
                <a:spcPts val="800"/>
              </a:spcAft>
              <a:defRPr sz="20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usuario necesita claridad, no otra lista interminable de ejercicios.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6580" y="1389888"/>
            <a:ext cx="4251960" cy="274320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223759" y="1554480"/>
            <a:ext cx="361188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Propuesta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48840"/>
            <a:ext cx="3429000" cy="60939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FitBit convierte datos básicos en una rutina lista para entrenar.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160520"/>
            <a:ext cx="365760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0" noProof="0" dirty="0">
                <a:solidFill>
                  <a:srgbClr val="586C64"/>
                </a:solidFill>
                <a:latin typeface="Aptos"/>
              </a:rPr>
              <a:t>Personalizada. Explicable. Accionable.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40680"/>
            <a:ext cx="1042416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143000" y="5568696"/>
            <a:ext cx="996696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Promesa del producto: menos fricción para empezar y mas trazabilidad para mejorar.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1938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45550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El problema real del usuario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4389120" cy="36317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Principiante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4206240" cy="53035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No sabe que ejercicios elegir ni cuantas series hacer.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38912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Poco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47672"/>
            <a:ext cx="4206240" cy="53035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Quiere una rutina ajustada a 20, 30 o 45 minutos.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2900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438912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Casa o gimnasio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4206240" cy="53035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Necesita que el plan respete el material disponible.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2900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38912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Quiere avanzar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142232"/>
            <a:ext cx="4206240" cy="53035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Busca registrar actividad y ver continuidad.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06440"/>
            <a:ext cx="1033272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1143000" y="5934455"/>
            <a:ext cx="9875520" cy="29260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El reto no es acceder a ejercicios: es elegir los correctos para la persona correcta.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45550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La solución: de perfil a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Producto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154680" cy="205740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Oval 6"/>
          <p:cNvSpPr/>
          <p:nvPr/>
        </p:nvSpPr>
        <p:spPr>
          <a:xfrm>
            <a:off x="1051560" y="1581912"/>
            <a:ext cx="502920" cy="502920"/>
          </a:xfrm>
          <a:prstGeom prst="ellipse">
            <a:avLst/>
          </a:prstGeom>
          <a:solidFill>
            <a:srgbClr val="127E59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36776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5603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Objetivo, nivel, entorno, tiempo, peso y frecuencia.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154680" cy="205740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Oval 10"/>
          <p:cNvSpPr/>
          <p:nvPr/>
        </p:nvSpPr>
        <p:spPr>
          <a:xfrm>
            <a:off x="4617720" y="1581912"/>
            <a:ext cx="502920" cy="502920"/>
          </a:xfrm>
          <a:prstGeom prst="ellipse">
            <a:avLst/>
          </a:prstGeom>
          <a:solidFill>
            <a:srgbClr val="127E59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636776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Rutina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0008"/>
            <a:ext cx="2560320" cy="74789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Ejercicios priorizados, volumen, descanso, duración y kcal.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25880"/>
            <a:ext cx="3154680" cy="205740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" name="Oval 14"/>
          <p:cNvSpPr/>
          <p:nvPr/>
        </p:nvSpPr>
        <p:spPr>
          <a:xfrm>
            <a:off x="8183880" y="1581912"/>
            <a:ext cx="502920" cy="502920"/>
          </a:xfrm>
          <a:prstGeom prst="ellipse">
            <a:avLst/>
          </a:prstGeom>
          <a:solidFill>
            <a:srgbClr val="127E59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636776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Seguimiento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0008"/>
            <a:ext cx="25603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500" b="0" noProof="0" dirty="0">
                <a:solidFill>
                  <a:srgbClr val="121E1A"/>
                </a:solidFill>
                <a:latin typeface="Aptos"/>
              </a:rPr>
              <a:t>Registro manual, historial y detalle por usuario.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241280" cy="47089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700" b="1" noProof="0" dirty="0">
                <a:solidFill>
                  <a:srgbClr val="127E59"/>
                </a:solidFill>
                <a:latin typeface="Aptos"/>
              </a:rPr>
              <a:t>En menos de un minuto, el usuario pasa de duda a acción.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00600"/>
            <a:ext cx="9509760" cy="102592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resultado es explicable: se ve que se recomienda y por que encaja.</a:t>
            </a:r>
          </a:p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sistema no se queda en generar una rutina: también guarda actividad para mejorar el producto.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4420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4600" b="1" noProof="0" dirty="0">
                <a:solidFill>
                  <a:srgbClr val="127E59"/>
                </a:solidFill>
                <a:latin typeface="Aptos"/>
              </a:rPr>
              <a:t>Demo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063240"/>
            <a:ext cx="8321040" cy="73250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200" b="1" noProof="0" dirty="0">
                <a:solidFill>
                  <a:srgbClr val="121E1A"/>
                </a:solidFill>
                <a:latin typeface="Aptos"/>
              </a:rPr>
              <a:t>Flujo real de la aplicación: perfil, rutina recomendada, catalogo, registro e historial.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4892040"/>
            <a:ext cx="973836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463040" y="5020055"/>
            <a:ext cx="928116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Aquí se muestra como FitBit pasa de una necesidad concreta a una rutina accionable.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Valor que vende FitBit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2461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Para el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606040" cy="1508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700" b="0" noProof="0" dirty="0">
                <a:solidFill>
                  <a:srgbClr val="121E1A"/>
                </a:solidFill>
                <a:latin typeface="Aptos"/>
              </a:rPr>
              <a:t>Ahorra tiempo, reduce dudas y recibe un plan adaptado a su realidad.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32461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Para el producto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77440"/>
            <a:ext cx="2606040" cy="1508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700" b="0" noProof="0" dirty="0">
                <a:solidFill>
                  <a:srgbClr val="121E1A"/>
                </a:solidFill>
                <a:latin typeface="Aptos"/>
              </a:rPr>
              <a:t>Cada rutina y actividad deja datos para entender uso, adherencia y mejora.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234440"/>
            <a:ext cx="32461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641080" y="1554480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Para evolucionar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377440"/>
            <a:ext cx="2606040" cy="1508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700" b="0" noProof="0" dirty="0">
                <a:solidFill>
                  <a:srgbClr val="121E1A"/>
                </a:solidFill>
                <a:latin typeface="Aptos"/>
              </a:rPr>
              <a:t>Puede crecer hacia planes semanales, wearables y recomendaciones aprendidas.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532120"/>
            <a:ext cx="1033272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1143000" y="5660136"/>
            <a:ext cx="987552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FitBit no vende ejercicios sueltos: vende claridad, personalización y continuidad.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Datos del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10332720" cy="3840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100" b="1" noProof="0" dirty="0">
                <a:solidFill>
                  <a:srgbClr val="121E1A"/>
                </a:solidFill>
                <a:latin typeface="Aptos"/>
              </a:rPr>
              <a:t>El MVP trabaja con una base preparada para validar el flujo del producto.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23160" cy="109728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95528" y="2157984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600" b="1" noProof="0" dirty="0">
                <a:solidFill>
                  <a:srgbClr val="127E59"/>
                </a:solidFill>
                <a:latin typeface="Aptos"/>
              </a:rPr>
              <a:t>1324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24328"/>
            <a:ext cx="2103120" cy="24006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200" noProof="0" dirty="0">
                <a:solidFill>
                  <a:srgbClr val="121E1A"/>
                </a:solidFill>
                <a:latin typeface="Aptos"/>
              </a:rPr>
              <a:t>E</a:t>
            </a:r>
            <a:r>
              <a:rPr lang="es-ES" sz="1200" b="0" noProof="0" dirty="0">
                <a:solidFill>
                  <a:srgbClr val="121E1A"/>
                </a:solidFill>
                <a:latin typeface="Aptos"/>
              </a:rPr>
              <a:t>jercicios en catalogo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423160" cy="109728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675887" y="2157984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600" b="1" noProof="0" dirty="0">
                <a:solidFill>
                  <a:srgbClr val="127E59"/>
                </a:solidFill>
                <a:latin typeface="Aptos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624328"/>
            <a:ext cx="2103120" cy="24006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200" noProof="0" dirty="0">
                <a:solidFill>
                  <a:srgbClr val="121E1A"/>
                </a:solidFill>
                <a:latin typeface="Aptos"/>
              </a:rPr>
              <a:t>U</a:t>
            </a:r>
            <a:r>
              <a:rPr lang="es-ES" sz="1200" b="0" noProof="0" dirty="0">
                <a:solidFill>
                  <a:srgbClr val="121E1A"/>
                </a:solidFill>
                <a:latin typeface="Aptos"/>
              </a:rPr>
              <a:t>suarios anonimizados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11680"/>
            <a:ext cx="2423160" cy="109728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56248" y="2157984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600" b="1" noProof="0" dirty="0">
                <a:solidFill>
                  <a:srgbClr val="127E59"/>
                </a:solidFill>
                <a:latin typeface="Aptos"/>
              </a:rPr>
              <a:t>317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624328"/>
            <a:ext cx="2103120" cy="4247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200" b="0" noProof="0" dirty="0">
                <a:solidFill>
                  <a:srgbClr val="121E1A"/>
                </a:solidFill>
                <a:latin typeface="Aptos"/>
              </a:rPr>
              <a:t>Actividades</a:t>
            </a:r>
            <a:r>
              <a:rPr lang="es-ES" sz="1200" noProof="0" dirty="0">
                <a:solidFill>
                  <a:srgbClr val="121E1A"/>
                </a:solidFill>
                <a:latin typeface="Aptos"/>
              </a:rPr>
              <a:t> generadas para el estudio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011680"/>
            <a:ext cx="2423160" cy="109728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436607" y="2157984"/>
            <a:ext cx="21945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600" b="1" noProof="0" dirty="0">
                <a:solidFill>
                  <a:srgbClr val="127E59"/>
                </a:solidFill>
                <a:latin typeface="Aptos"/>
              </a:rPr>
              <a:t>1415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624328"/>
            <a:ext cx="2103120" cy="24006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200" noProof="0" dirty="0">
                <a:solidFill>
                  <a:srgbClr val="121E1A"/>
                </a:solidFill>
                <a:latin typeface="Aptos"/>
              </a:rPr>
              <a:t>E</a:t>
            </a:r>
            <a:r>
              <a:rPr lang="es-ES" sz="1200" b="0" noProof="0" dirty="0">
                <a:solidFill>
                  <a:srgbClr val="121E1A"/>
                </a:solidFill>
                <a:latin typeface="Aptos"/>
              </a:rPr>
              <a:t>jercicios registrados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749039"/>
            <a:ext cx="9692640" cy="141732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554480" y="3896846"/>
            <a:ext cx="90525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Base de validación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90622"/>
            <a:ext cx="8869680" cy="60939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Catalogo amplio + perfiles anonimizados + actividad de estudio para comprobar que el sistema genera datos </a:t>
            </a:r>
            <a:r>
              <a:rPr lang="es-ES" b="1" noProof="0" dirty="0">
                <a:solidFill>
                  <a:srgbClr val="121E1A"/>
                </a:solidFill>
                <a:latin typeface="Aptos"/>
              </a:rPr>
              <a:t>ú</a:t>
            </a:r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tiles.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15000"/>
            <a:ext cx="1033272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143000" y="5843016"/>
            <a:ext cx="9875520" cy="29260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La prioridad es validar una salida clara antes de escalar a modelos mas complejos.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45550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Recomendación interpretable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585216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200" b="1" noProof="0" dirty="0">
                <a:solidFill>
                  <a:srgbClr val="121E1A"/>
                </a:solidFill>
                <a:latin typeface="Aptos"/>
              </a:rPr>
              <a:t>La rutina no sale de una caja negra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852160" cy="1862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Filtra por entorno: casa, gimnasio o ambos.</a:t>
            </a:r>
          </a:p>
          <a:p>
            <a:pPr>
              <a:spcAft>
                <a:spcPts val="800"/>
              </a:spcAft>
              <a:defRPr sz="19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Puntúa por objetivo, musculo, equipamiento, nivel y MET.</a:t>
            </a:r>
          </a:p>
          <a:p>
            <a:pPr>
              <a:spcAft>
                <a:spcPts val="800"/>
              </a:spcAft>
              <a:defRPr sz="19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Calcula volumen, duración y calorías estimadas.</a:t>
            </a:r>
          </a:p>
          <a:p>
            <a:pPr>
              <a:spcAft>
                <a:spcPts val="800"/>
              </a:spcAft>
              <a:defRPr sz="19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Prioriza una salida explicable y fácil de validar.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325880"/>
            <a:ext cx="3749039" cy="105156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0" y="1455522"/>
            <a:ext cx="3108959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21282"/>
            <a:ext cx="2926079" cy="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perfil + catalogo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651760"/>
            <a:ext cx="3749039" cy="105156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0" y="2724911"/>
            <a:ext cx="3108959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Proceso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39" y="311822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reglas + puntuación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977639"/>
            <a:ext cx="3749039" cy="1051560"/>
          </a:xfrm>
          <a:prstGeom prst="roundRect">
            <a:avLst/>
          </a:prstGeom>
          <a:solidFill>
            <a:srgbClr val="EDF7F2"/>
          </a:solidFill>
          <a:ln>
            <a:solidFill>
              <a:srgbClr val="C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315198" y="4069080"/>
            <a:ext cx="3108959" cy="365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000" b="1" noProof="0" dirty="0">
                <a:solidFill>
                  <a:srgbClr val="127E59"/>
                </a:solidFill>
                <a:latin typeface="Aptos"/>
              </a:rPr>
              <a:t>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7" y="4434840"/>
            <a:ext cx="2926079" cy="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1" noProof="0" dirty="0">
                <a:solidFill>
                  <a:srgbClr val="121E1A"/>
                </a:solidFill>
                <a:latin typeface="Aptos"/>
              </a:rPr>
              <a:t>rutina entrenable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806440"/>
            <a:ext cx="1033272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143000" y="5934455"/>
            <a:ext cx="987552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Para esta primera versión, la aplicabilidad es una ventaja del producto.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600" b="1" noProof="0" dirty="0">
                <a:solidFill>
                  <a:srgbClr val="121E1A"/>
                </a:solidFill>
                <a:latin typeface="Aptos"/>
              </a:rPr>
              <a:t>Potencial de crecimiento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411480"/>
            <a:ext cx="2240280" cy="347472"/>
          </a:xfrm>
          <a:prstGeom prst="roundRect">
            <a:avLst/>
          </a:prstGeom>
          <a:solidFill>
            <a:srgbClr val="EDF7F2"/>
          </a:solidFill>
          <a:ln>
            <a:solidFill>
              <a:srgbClr val="12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noProof="0" dirty="0">
                <a:solidFill>
                  <a:srgbClr val="127E59"/>
                </a:solidFill>
                <a:latin typeface="Aptos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566928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200" b="1" noProof="0" dirty="0">
                <a:solidFill>
                  <a:srgbClr val="121E1A"/>
                </a:solidFill>
                <a:latin typeface="Aptos"/>
              </a:rPr>
              <a:t>De MVP a producto inteligente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234440" cy="438912"/>
          </a:xfrm>
          <a:prstGeom prst="roundRect">
            <a:avLst/>
          </a:prstGeom>
          <a:solidFill>
            <a:srgbClr val="FFF4ED"/>
          </a:solidFill>
          <a:ln>
            <a:solidFill>
              <a:srgbClr val="FF7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noProof="0" dirty="0">
                <a:solidFill>
                  <a:srgbClr val="121E1A"/>
                </a:solidFill>
                <a:latin typeface="Aptos"/>
              </a:rPr>
              <a:t>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64792"/>
            <a:ext cx="411480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600" b="0" noProof="0" dirty="0">
                <a:solidFill>
                  <a:srgbClr val="121E1A"/>
                </a:solidFill>
                <a:latin typeface="Aptos"/>
              </a:rPr>
              <a:t>Rutinas personalizadas, catalogo, registro e historial.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70632"/>
            <a:ext cx="1234440" cy="438912"/>
          </a:xfrm>
          <a:prstGeom prst="roundRect">
            <a:avLst/>
          </a:prstGeom>
          <a:solidFill>
            <a:srgbClr val="FFF4ED"/>
          </a:solidFill>
          <a:ln>
            <a:solidFill>
              <a:srgbClr val="FF7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noProof="0" dirty="0">
                <a:solidFill>
                  <a:srgbClr val="121E1A"/>
                </a:solidFill>
                <a:latin typeface="Aptos"/>
              </a:rPr>
              <a:t>Siguiente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843784"/>
            <a:ext cx="4114800" cy="54784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600" b="0" noProof="0" dirty="0">
                <a:solidFill>
                  <a:srgbClr val="121E1A"/>
                </a:solidFill>
                <a:latin typeface="Aptos"/>
              </a:rPr>
              <a:t>Feedback sobre dificultad y planes semanales progresivos.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9624"/>
            <a:ext cx="1234440" cy="438912"/>
          </a:xfrm>
          <a:prstGeom prst="roundRect">
            <a:avLst/>
          </a:prstGeom>
          <a:solidFill>
            <a:srgbClr val="FFF4ED"/>
          </a:solidFill>
          <a:ln>
            <a:solidFill>
              <a:srgbClr val="FF7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noProof="0" dirty="0">
                <a:solidFill>
                  <a:srgbClr val="121E1A"/>
                </a:solidFill>
                <a:latin typeface="Aptos"/>
              </a:rPr>
              <a:t>Después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922776"/>
            <a:ext cx="4114800" cy="54784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1600" b="0" noProof="0" dirty="0">
                <a:solidFill>
                  <a:srgbClr val="121E1A"/>
                </a:solidFill>
                <a:latin typeface="Aptos"/>
              </a:rPr>
              <a:t>Integración con wearables y modelos entrenados con histórico.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051560"/>
            <a:ext cx="411480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2200" b="1" noProof="0" dirty="0">
                <a:solidFill>
                  <a:srgbClr val="121E1A"/>
                </a:solidFill>
                <a:latin typeface="Aptos"/>
              </a:rPr>
              <a:t>Por que es buen momento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91640"/>
            <a:ext cx="4297680" cy="2062103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La salud digital necesita experiencias simples.</a:t>
            </a:r>
          </a:p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Los usuarios ya esperan personalización.</a:t>
            </a:r>
          </a:p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historial permite mejorar con datos propios.</a:t>
            </a:r>
          </a:p>
          <a:p>
            <a:pPr>
              <a:spcAft>
                <a:spcPts val="800"/>
              </a:spcAft>
              <a:defRPr sz="1800">
                <a:solidFill>
                  <a:srgbClr val="121E1A"/>
                </a:solidFill>
                <a:latin typeface="Aptos"/>
              </a:defRPr>
            </a:pPr>
            <a:r>
              <a:rPr lang="es-ES" noProof="0" dirty="0"/>
              <a:t>El MVP valida el flujo antes de escalar.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806440"/>
            <a:ext cx="10332720" cy="566928"/>
          </a:xfrm>
          <a:prstGeom prst="roundRect">
            <a:avLst/>
          </a:prstGeom>
          <a:solidFill>
            <a:srgbClr val="FFF4ED"/>
          </a:solidFill>
          <a:ln>
            <a:solidFill>
              <a:srgbClr val="FF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143000" y="5934455"/>
            <a:ext cx="987552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400" b="1" noProof="0" dirty="0">
                <a:solidFill>
                  <a:srgbClr val="121E1A"/>
                </a:solidFill>
                <a:latin typeface="Aptos"/>
              </a:rPr>
              <a:t>Siguiente paso comercial: piloto con usuarios reales y medición de adherencia.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FitBit - Pitch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6446520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r"/>
            <a:r>
              <a:rPr lang="es-ES" sz="900" b="0" noProof="0" dirty="0">
                <a:solidFill>
                  <a:srgbClr val="586C64"/>
                </a:solidFill>
                <a:latin typeface="Aptos"/>
              </a:rPr>
              <a:t>Master Data Science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4500" b="1" noProof="0" dirty="0">
                <a:solidFill>
                  <a:srgbClr val="127E59"/>
                </a:solidFill>
                <a:latin typeface="Aptos"/>
              </a:rPr>
              <a:t>FitBit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57400"/>
            <a:ext cx="9601200" cy="48628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800" b="1" noProof="0" dirty="0">
                <a:solidFill>
                  <a:srgbClr val="121E1A"/>
                </a:solidFill>
                <a:latin typeface="Aptos"/>
              </a:rPr>
              <a:t>Claridad para entrenar hoy. Datos para mejorar mañana.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063240"/>
            <a:ext cx="8778240" cy="7315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1800" b="0" noProof="0" dirty="0">
                <a:solidFill>
                  <a:srgbClr val="586C64"/>
                </a:solidFill>
                <a:latin typeface="Aptos"/>
              </a:rPr>
              <a:t>Un MVP funcional que personaliza rutinas, registra actividad y deja preparada la base para recomendaciones mas inteligentes.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4343400"/>
            <a:ext cx="3657600" cy="438912"/>
          </a:xfrm>
          <a:prstGeom prst="roundRect">
            <a:avLst/>
          </a:prstGeom>
          <a:solidFill>
            <a:srgbClr val="FFF4ED"/>
          </a:solidFill>
          <a:ln>
            <a:solidFill>
              <a:srgbClr val="FF7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noProof="0" dirty="0">
                <a:solidFill>
                  <a:srgbClr val="121E1A"/>
                </a:solidFill>
                <a:latin typeface="Aptos"/>
              </a:rPr>
              <a:t>Listo para demo y piloto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lang="es-ES" sz="2400" b="1" noProof="0" dirty="0">
                <a:solidFill>
                  <a:srgbClr val="121E1A"/>
                </a:solidFill>
                <a:latin typeface="Aptos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1410</Words>
  <Application>Microsoft Office PowerPoint</Application>
  <PresentationFormat>Panorámica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Africa</dc:creator>
  <cp:keywords/>
  <dc:description>generated using python-pptx</dc:description>
  <cp:lastModifiedBy>Africa Maria Bermudez Mejias</cp:lastModifiedBy>
  <cp:revision>4</cp:revision>
  <dcterms:created xsi:type="dcterms:W3CDTF">2013-01-27T09:14:16Z</dcterms:created>
  <dcterms:modified xsi:type="dcterms:W3CDTF">2026-06-12T11:01:10Z</dcterms:modified>
  <cp:category/>
</cp:coreProperties>
</file>